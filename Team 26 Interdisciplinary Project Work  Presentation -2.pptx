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1"/>
  </p:notesMasterIdLst>
  <p:sldIdLst>
    <p:sldId id="278" r:id="rId2"/>
    <p:sldId id="262" r:id="rId3"/>
    <p:sldId id="263" r:id="rId4"/>
    <p:sldId id="279" r:id="rId5"/>
    <p:sldId id="280" r:id="rId6"/>
    <p:sldId id="264" r:id="rId7"/>
    <p:sldId id="265" r:id="rId8"/>
    <p:sldId id="266" r:id="rId9"/>
    <p:sldId id="281" r:id="rId10"/>
    <p:sldId id="282" r:id="rId11"/>
    <p:sldId id="283" r:id="rId12"/>
    <p:sldId id="284" r:id="rId13"/>
    <p:sldId id="285" r:id="rId14"/>
    <p:sldId id="268" r:id="rId15"/>
    <p:sldId id="269" r:id="rId16"/>
    <p:sldId id="271" r:id="rId17"/>
    <p:sldId id="272" r:id="rId18"/>
    <p:sldId id="273" r:id="rId19"/>
    <p:sldId id="286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E37930-7560-4999-945D-6D83670AFF55}" v="2" dt="2026-04-28T17:34:23.9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226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nesh Heralagi" userId="1be6040889b3db6b" providerId="LiveId" clId="{3834278E-7DB3-4A8E-B480-74257C48412A}"/>
    <pc:docChg chg="undo custSel modSld">
      <pc:chgData name="Ganesh Heralagi" userId="1be6040889b3db6b" providerId="LiveId" clId="{3834278E-7DB3-4A8E-B480-74257C48412A}" dt="2026-04-28T17:34:23.967" v="3" actId="20577"/>
      <pc:docMkLst>
        <pc:docMk/>
      </pc:docMkLst>
      <pc:sldChg chg="modSp mod">
        <pc:chgData name="Ganesh Heralagi" userId="1be6040889b3db6b" providerId="LiveId" clId="{3834278E-7DB3-4A8E-B480-74257C48412A}" dt="2026-04-28T17:31:58.632" v="1" actId="20577"/>
        <pc:sldMkLst>
          <pc:docMk/>
          <pc:sldMk cId="2203069696" sldId="262"/>
        </pc:sldMkLst>
        <pc:spChg chg="mod">
          <ac:chgData name="Ganesh Heralagi" userId="1be6040889b3db6b" providerId="LiveId" clId="{3834278E-7DB3-4A8E-B480-74257C48412A}" dt="2026-04-28T17:31:58.632" v="1" actId="20577"/>
          <ac:spMkLst>
            <pc:docMk/>
            <pc:sldMk cId="2203069696" sldId="262"/>
            <ac:spMk id="4" creationId="{B8A10EC9-9DA9-4D24-AE25-C0527EE1C12A}"/>
          </ac:spMkLst>
        </pc:spChg>
      </pc:sldChg>
      <pc:sldChg chg="modSp mod">
        <pc:chgData name="Ganesh Heralagi" userId="1be6040889b3db6b" providerId="LiveId" clId="{3834278E-7DB3-4A8E-B480-74257C48412A}" dt="2026-04-28T17:34:23.967" v="3" actId="20577"/>
        <pc:sldMkLst>
          <pc:docMk/>
          <pc:sldMk cId="2327347906" sldId="279"/>
        </pc:sldMkLst>
        <pc:spChg chg="mod">
          <ac:chgData name="Ganesh Heralagi" userId="1be6040889b3db6b" providerId="LiveId" clId="{3834278E-7DB3-4A8E-B480-74257C48412A}" dt="2026-04-28T17:34:23.967" v="3" actId="20577"/>
          <ac:spMkLst>
            <pc:docMk/>
            <pc:sldMk cId="2327347906" sldId="279"/>
            <ac:spMk id="3" creationId="{61223C80-5A42-4381-8266-A883FCAFF74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9E76B-A513-4559-BD9D-DDA49C838E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E3DA2C-E443-41D9-9761-45435B669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8F483-6A53-4C15-AA8A-5688357FDB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6AF9C9D1-0AE9-4FFE-B4F1-A9F7082B1F88}" type="datetimeFigureOut">
              <a:rPr lang="en-IN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28-04-2026</a:t>
            </a:fld>
            <a:endParaRPr lang="en-IN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A1AAB-0394-4568-AFD7-0808B6C01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7A379124-AF7E-4960-A178-6603FC3FEE77}" type="slidenum">
              <a:rPr lang="en-IN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IN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8040A1-CB0A-41FE-BF06-B8C37B759A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63737" y="4767263"/>
            <a:ext cx="1616525" cy="27795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1DB1FC-7954-4D9A-8D7F-9DD4E13A2836}"/>
              </a:ext>
            </a:extLst>
          </p:cNvPr>
          <p:cNvSpPr/>
          <p:nvPr userDrawn="1"/>
        </p:nvSpPr>
        <p:spPr>
          <a:xfrm>
            <a:off x="7482348" y="235974"/>
            <a:ext cx="1641988" cy="273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278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4FFCB-285D-42D1-A7FA-EC65DDC54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22445-ED15-4C3F-86F0-D2B6FB9B3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3A3DF-8A7D-4882-8141-600ACA6346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6AF9C9D1-0AE9-4FFE-B4F1-A9F7082B1F88}" type="datetimeFigureOut">
              <a:rPr lang="en-IN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28-04-2026</a:t>
            </a:fld>
            <a:endParaRPr lang="en-IN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9C6C8-67DC-45E1-8F19-C3728D579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endParaRPr lang="en-IN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5A575-F037-47DB-B3D4-6F83D7C50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7A379124-AF7E-4960-A178-6603FC3FEE77}" type="slidenum">
              <a:rPr lang="en-IN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IN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6547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FD1F1-737F-47FC-9CA9-3E2678C5B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1B478-5B28-46A1-AFB0-110D637D5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5DDD4-A4D8-4F7F-AC41-19E11B1166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6AF9C9D1-0AE9-4FFE-B4F1-A9F7082B1F88}" type="datetimeFigureOut">
              <a:rPr lang="en-IN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28-04-2026</a:t>
            </a:fld>
            <a:endParaRPr lang="en-IN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985F8-08EA-4205-9C8A-33130CE7C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endParaRPr lang="en-IN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174AD-4A7E-40F9-9AC8-5A05728B8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7A379124-AF7E-4960-A178-6603FC3FEE77}" type="slidenum">
              <a:rPr lang="en-IN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IN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040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068F1-88DC-451D-AF70-E15942DEE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E01F7-CE57-4F6E-8310-42065E9B05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4DA933-B21D-45F5-87F6-0D0B430E5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4CB12D-85D1-4F38-BC1D-AC4D0FC8E1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6AF9C9D1-0AE9-4FFE-B4F1-A9F7082B1F88}" type="datetimeFigureOut">
              <a:rPr lang="en-IN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28-04-2026</a:t>
            </a:fld>
            <a:endParaRPr lang="en-IN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F8C4F-8D77-48E6-8824-0FBDB7DD4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endParaRPr lang="en-IN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2E3897-9CE5-449B-8BC6-FEEE6C4CE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7A379124-AF7E-4960-A178-6603FC3FEE77}" type="slidenum">
              <a:rPr lang="en-IN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IN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7653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3ED21-CF7D-4695-BDCB-CFF60DD4F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22544-08ED-417F-A928-EF844888A2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A8AD83-48CF-4F39-BA36-8D3DB3055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1DE693-F05A-47B0-B163-A397A1220D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066EDB-79A9-4CB2-8527-00740A07A1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AB7153-9CB7-45CE-B201-046A86F555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6AF9C9D1-0AE9-4FFE-B4F1-A9F7082B1F88}" type="datetimeFigureOut">
              <a:rPr lang="en-IN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28-04-2026</a:t>
            </a:fld>
            <a:endParaRPr lang="en-IN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DEE9D4-3EE0-4A38-8AF8-B4BD3ED9A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endParaRPr lang="en-IN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4B08CA-4269-4A80-9C82-677579AA2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7A379124-AF7E-4960-A178-6603FC3FEE77}" type="slidenum">
              <a:rPr lang="en-IN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IN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1457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C1099-075C-48E2-A915-713F6A81B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1EA5B6-B26E-48AD-A4BF-006EEC6687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6AF9C9D1-0AE9-4FFE-B4F1-A9F7082B1F88}" type="datetimeFigureOut">
              <a:rPr lang="en-IN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28-04-2026</a:t>
            </a:fld>
            <a:endParaRPr lang="en-IN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F4FBFD-43BC-4613-8319-A06DB80E2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endParaRPr lang="en-IN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B191C4-7CFD-41D5-8CD2-9926F6492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7A379124-AF7E-4960-A178-6603FC3FEE77}" type="slidenum">
              <a:rPr lang="en-IN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IN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868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D4EDCB-244C-4D7A-A5DB-C619688598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6AF9C9D1-0AE9-4FFE-B4F1-A9F7082B1F88}" type="datetimeFigureOut">
              <a:rPr lang="en-IN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28-04-2026</a:t>
            </a:fld>
            <a:endParaRPr lang="en-IN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D7EDA8-95B0-4C85-8BB4-D41851B02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endParaRPr lang="en-IN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A3A73-5673-4714-A66A-A4F87B942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7A379124-AF7E-4960-A178-6603FC3FEE77}" type="slidenum">
              <a:rPr lang="en-IN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IN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6930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2CB0B-FB59-43D4-BDDB-E9F779C72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39261-B024-45A6-9559-1FB3A09C4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F61BAF-1A6A-4975-AEA7-106E623E52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AFACEF-0D95-4B96-9982-48F10DC040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6AF9C9D1-0AE9-4FFE-B4F1-A9F7082B1F88}" type="datetimeFigureOut">
              <a:rPr lang="en-IN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28-04-2026</a:t>
            </a:fld>
            <a:endParaRPr lang="en-IN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BFB575-FFDA-4FD2-80B8-C7A3C359D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endParaRPr lang="en-IN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197E81-FBB0-474D-8D6B-5DA362C8D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7A379124-AF7E-4960-A178-6603FC3FEE77}" type="slidenum">
              <a:rPr lang="en-IN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IN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284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CC765-28A8-4FBF-B53E-D7F959192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2F45B9-F715-432A-98BF-D414194407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8BEB44-851F-4464-AB29-E8CBC8551D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09B41E-332E-41CE-9C14-8B0C63C955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6AF9C9D1-0AE9-4FFE-B4F1-A9F7082B1F88}" type="datetimeFigureOut">
              <a:rPr lang="en-IN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28-04-2026</a:t>
            </a:fld>
            <a:endParaRPr lang="en-IN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07B678-2338-412C-A1DD-9A993B5DE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endParaRPr lang="en-IN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66DE67-D0A6-46EA-B1B8-46AF0C5C5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7A379124-AF7E-4960-A178-6603FC3FEE77}" type="slidenum">
              <a:rPr lang="en-IN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IN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2034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8BFB7-F49A-4C99-A8AC-1CEA2EFA0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7AC7F9-9BB8-4A4F-829D-63DDC6A037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D7FFB-01D8-46CF-99FE-CC35C06919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6AF9C9D1-0AE9-4FFE-B4F1-A9F7082B1F88}" type="datetimeFigureOut">
              <a:rPr lang="en-IN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28-04-2026</a:t>
            </a:fld>
            <a:endParaRPr lang="en-IN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BF285-D83B-4BBF-904A-8B57AE93F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endParaRPr lang="en-IN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61100-E36F-41B2-87A6-78F045A7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7A379124-AF7E-4960-A178-6603FC3FEE77}" type="slidenum">
              <a:rPr lang="en-IN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IN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8364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ABAEB3-46AF-4571-A58F-DAA04D3E20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9ED1D3-986B-4DD7-B685-EBFA01E85E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63418-5C05-4EA4-9C49-11F91D5E19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6AF9C9D1-0AE9-4FFE-B4F1-A9F7082B1F88}" type="datetimeFigureOut">
              <a:rPr lang="en-IN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28-04-2026</a:t>
            </a:fld>
            <a:endParaRPr lang="en-IN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3666B-2423-4294-B0C8-D01C1402E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endParaRPr lang="en-IN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C83A6-FBD0-4FB4-BAFA-EF43D3474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7A379124-AF7E-4960-A178-6603FC3FEE77}" type="slidenum">
              <a:rPr lang="en-IN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IN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5270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521109" y="934100"/>
            <a:ext cx="839121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521109" y="1592028"/>
            <a:ext cx="8380559" cy="32749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 dirty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685800" lvl="1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1143000" lvl="2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1600200" lvl="3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2057400" lvl="4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lang="en-IN" dirty="0"/>
          </a:p>
          <a:p>
            <a:pPr marL="228600" lvl="0" indent="-228600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580610" y="473204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9355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6E4048-8E80-480E-A640-535405D34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99144"/>
            <a:ext cx="7886700" cy="323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FF79B-FE8F-4615-B3B6-7C57F442DE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11764"/>
            <a:ext cx="7886700" cy="356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0C879-F1B0-41FD-BEBA-D89717F429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1884" y="4877476"/>
            <a:ext cx="442452" cy="2518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1">
                    <a:tint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defRPr>
            </a:lvl1pPr>
          </a:lstStyle>
          <a:p>
            <a:pPr defTabSz="685800">
              <a:buClrTx/>
            </a:pPr>
            <a:fld id="{7A379124-AF7E-4960-A178-6603FC3FEE77}" type="slidenum">
              <a:rPr lang="en-IN" kern="1200" smtClean="0">
                <a:solidFill>
                  <a:prstClr val="black">
                    <a:tint val="75000"/>
                  </a:prstClr>
                </a:solidFill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IN" kern="1200">
              <a:solidFill>
                <a:prstClr val="black">
                  <a:tint val="75000"/>
                </a:prstClr>
              </a:solidFill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E7DF99-D6AC-49B8-83F5-B4DBC8C61F44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-1" y="0"/>
            <a:ext cx="2430000" cy="81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4CC7CC-7961-41A7-A1EA-C8C6A21A4352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7527475" y="266023"/>
            <a:ext cx="1616525" cy="27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061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rgbClr val="00206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Microsoft Sans Serif" panose="020B0604020202020204" pitchFamily="34" charset="0"/>
          <a:ea typeface="Microsoft Sans Serif" panose="020B0604020202020204" pitchFamily="34" charset="0"/>
          <a:cs typeface="Microsoft Sans Serif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rgbClr val="C00000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rgbClr val="002060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rgbClr val="FF0000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rgbClr val="00B050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155E7-F3DB-4570-B0D6-8B1E9ED390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Interdisciplinary Project Work</a:t>
            </a:r>
            <a:br>
              <a:rPr lang="en-US" sz="4000" dirty="0"/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06453E-3362-4EE4-A123-1CF5BD05A4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rgbClr val="7030A0"/>
                </a:solidFill>
                <a:latin typeface="Fira Sans Condensed" panose="020B0503050000020004" pitchFamily="34" charset="0"/>
              </a:rPr>
              <a:t>Review-I</a:t>
            </a:r>
            <a:endParaRPr lang="en-IN" sz="4400" dirty="0">
              <a:solidFill>
                <a:srgbClr val="7030A0"/>
              </a:solidFill>
              <a:latin typeface="Fira Sans Condensed" panose="020B05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534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35361-97F5-43AB-92CA-D2679CBC65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816907"/>
          </a:xfrm>
        </p:spPr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 </a:t>
            </a:r>
            <a:r>
              <a:rPr lang="en-US" sz="3100" dirty="0" err="1">
                <a:effectLst/>
              </a:rPr>
              <a:t>SalivaSense</a:t>
            </a:r>
            <a:r>
              <a:rPr lang="en-US" sz="3100" dirty="0">
                <a:effectLst/>
              </a:rPr>
              <a:t> – A Smart Saliva-Based Health Monitoring Device</a:t>
            </a:r>
            <a:endParaRPr lang="en-IN" sz="3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C4FE0C-A03D-4490-8C19-2221E5F298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1658679"/>
            <a:ext cx="6858000" cy="913071"/>
          </a:xfrm>
        </p:spPr>
        <p:txBody>
          <a:bodyPr>
            <a:normAutofit lnSpcReduction="10000"/>
          </a:bodyPr>
          <a:lstStyle/>
          <a:p>
            <a:pPr algn="l"/>
            <a:endParaRPr lang="en-US" sz="1600" dirty="0"/>
          </a:p>
          <a:p>
            <a:pPr algn="l"/>
            <a:r>
              <a:rPr lang="en-US" sz="1600" dirty="0"/>
              <a:t>Faculty Advisor:                           Mrs. Indu K S</a:t>
            </a:r>
          </a:p>
          <a:p>
            <a:r>
              <a:rPr lang="en-US" sz="1600" dirty="0"/>
              <a:t>Assistant Professor-CSE,RVITM</a:t>
            </a:r>
            <a:endParaRPr lang="en-IN" sz="160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8A10EC9-9DA9-4D24-AE25-C0527EE1C12A}"/>
              </a:ext>
            </a:extLst>
          </p:cNvPr>
          <p:cNvSpPr txBox="1">
            <a:spLocks/>
          </p:cNvSpPr>
          <p:nvPr/>
        </p:nvSpPr>
        <p:spPr>
          <a:xfrm>
            <a:off x="1143000" y="2571751"/>
            <a:ext cx="6858000" cy="214910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Tx/>
            </a:pPr>
            <a:endParaRPr lang="en-US" sz="1400" dirty="0"/>
          </a:p>
          <a:p>
            <a:pPr algn="l">
              <a:buClrTx/>
            </a:pPr>
            <a:r>
              <a:rPr lang="en-US" sz="1400" dirty="0"/>
              <a:t>Team No. 26    		Team Name:</a:t>
            </a:r>
          </a:p>
          <a:p>
            <a:pPr algn="l">
              <a:buClrTx/>
            </a:pPr>
            <a:r>
              <a:rPr lang="en-US" sz="1400" dirty="0"/>
              <a:t>Students Name 			USN</a:t>
            </a:r>
          </a:p>
          <a:p>
            <a:pPr marL="342900" indent="-342900" algn="l">
              <a:buClrTx/>
              <a:buFont typeface="+mj-lt"/>
              <a:buAutoNum type="arabicPeriod"/>
            </a:pPr>
            <a:r>
              <a:rPr lang="en-US" sz="1400" dirty="0"/>
              <a:t>Lakshya </a:t>
            </a:r>
            <a:r>
              <a:rPr lang="en-US" sz="1400" dirty="0" err="1"/>
              <a:t>krishna</a:t>
            </a:r>
            <a:r>
              <a:rPr lang="en-US" sz="1400" dirty="0"/>
              <a:t> Jaiswal               </a:t>
            </a:r>
          </a:p>
          <a:p>
            <a:pPr marL="342900" indent="-342900" algn="l">
              <a:buClrTx/>
              <a:buFont typeface="+mj-lt"/>
              <a:buAutoNum type="arabicPeriod"/>
            </a:pPr>
            <a:r>
              <a:rPr lang="en-US" sz="1400" dirty="0"/>
              <a:t>Sanjana G D</a:t>
            </a:r>
          </a:p>
          <a:p>
            <a:pPr marL="342900" indent="-342900" algn="l">
              <a:buClrTx/>
              <a:buFont typeface="+mj-lt"/>
              <a:buAutoNum type="arabicPeriod"/>
            </a:pPr>
            <a:r>
              <a:rPr lang="en-US" sz="1400" dirty="0"/>
              <a:t>Ganesh Heralagi   </a:t>
            </a:r>
          </a:p>
          <a:p>
            <a:pPr marL="342900" indent="-342900" algn="l">
              <a:buClrTx/>
              <a:buFont typeface="+mj-lt"/>
              <a:buAutoNum type="arabicPeriod"/>
            </a:pPr>
            <a:r>
              <a:rPr lang="en-US" sz="1400" dirty="0"/>
              <a:t> Siri Soujanya </a:t>
            </a:r>
          </a:p>
          <a:p>
            <a:pPr marL="342900" indent="-342900" algn="l">
              <a:buClrTx/>
              <a:buFont typeface="+mj-lt"/>
              <a:buAutoNum type="arabicPeriod"/>
            </a:pPr>
            <a:r>
              <a:rPr lang="en-US" sz="1400" dirty="0"/>
              <a:t> </a:t>
            </a:r>
            <a:r>
              <a:rPr lang="en-US" sz="1400" dirty="0" err="1"/>
              <a:t>Lakshmipathy</a:t>
            </a:r>
            <a:r>
              <a:rPr lang="en-US" sz="1400" dirty="0"/>
              <a:t> A.S</a:t>
            </a:r>
          </a:p>
          <a:p>
            <a:pPr marL="342900" indent="-342900" algn="l">
              <a:buClrTx/>
              <a:buFont typeface="+mj-lt"/>
              <a:buAutoNum type="arabicPeriod"/>
            </a:pPr>
            <a:r>
              <a:rPr lang="en-US" sz="1400" dirty="0"/>
              <a:t> Tilak Lakhani</a:t>
            </a:r>
          </a:p>
          <a:p>
            <a:pPr marL="342900" indent="-342900" algn="l">
              <a:buClrTx/>
              <a:buFont typeface="+mj-lt"/>
              <a:buAutoNum type="arabicPeriod"/>
            </a:pPr>
            <a:endParaRPr lang="en-US" sz="1400" dirty="0"/>
          </a:p>
          <a:p>
            <a:pPr marL="342900" indent="-342900" algn="l">
              <a:buClrTx/>
              <a:buFont typeface="+mj-lt"/>
              <a:buAutoNum type="arabicPeriod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03069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BB90F-42BB-421F-99A7-B4FAA904E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Agenda </a:t>
            </a:r>
            <a:r>
              <a:rPr lang="en-US" sz="2200" dirty="0">
                <a:solidFill>
                  <a:srgbClr val="FF0000"/>
                </a:solidFill>
                <a:effectLst/>
              </a:rPr>
              <a:t>(Map each components with Design Thinking Steps)</a:t>
            </a:r>
            <a:endParaRPr lang="en-IN" dirty="0">
              <a:solidFill>
                <a:srgbClr val="FF0000"/>
              </a:solidFill>
              <a:effectLst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23C80-5A42-4381-8266-A883FCAFF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109" y="1592029"/>
            <a:ext cx="8380559" cy="3235152"/>
          </a:xfrm>
        </p:spPr>
        <p:txBody>
          <a:bodyPr>
            <a:noAutofit/>
          </a:bodyPr>
          <a:lstStyle/>
          <a:p>
            <a:r>
              <a:rPr lang="en-US" sz="2000" dirty="0"/>
              <a:t>Introduction &amp; Background of the Project.</a:t>
            </a:r>
          </a:p>
          <a:p>
            <a:r>
              <a:rPr lang="en-US" sz="2000" dirty="0"/>
              <a:t>Problem Statement (What issue are you addressing?).</a:t>
            </a:r>
          </a:p>
          <a:p>
            <a:r>
              <a:rPr lang="en-US" sz="2000" dirty="0"/>
              <a:t>Objectives &amp; Scope of the Work (What you aim to achieve).</a:t>
            </a:r>
          </a:p>
          <a:p>
            <a:r>
              <a:rPr lang="en-US" sz="2000" dirty="0"/>
              <a:t>Literature Review/Survey (Summary of 15-20 papers, findings, and shortcomings). (Use Table form)</a:t>
            </a:r>
          </a:p>
          <a:p>
            <a:r>
              <a:rPr lang="en-US" sz="2000" dirty="0"/>
              <a:t>Identified Research Gaps (Why your project is needed).</a:t>
            </a:r>
          </a:p>
          <a:p>
            <a:r>
              <a:rPr lang="en-US" sz="2000" dirty="0"/>
              <a:t>Proposed Methodology/Block Diagram/Architecture.</a:t>
            </a:r>
          </a:p>
          <a:p>
            <a:r>
              <a:rPr lang="en-US" sz="2000" dirty="0"/>
              <a:t>Proposed Hardware/Software Requirements.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66786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BB90F-42BB-421F-99A7-B4FAA904E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Agenda </a:t>
            </a:r>
            <a:r>
              <a:rPr lang="en-US" sz="2200" dirty="0">
                <a:solidFill>
                  <a:srgbClr val="FF0000"/>
                </a:solidFill>
                <a:effectLst/>
              </a:rPr>
              <a:t>(Map each components with Design Thinking Steps)</a:t>
            </a:r>
            <a:endParaRPr lang="en-IN" dirty="0">
              <a:solidFill>
                <a:srgbClr val="FF0000"/>
              </a:solidFill>
              <a:effectLst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23C80-5A42-4381-8266-A883FCAFF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109" y="1592029"/>
            <a:ext cx="8380559" cy="3256418"/>
          </a:xfrm>
        </p:spPr>
        <p:txBody>
          <a:bodyPr>
            <a:noAutofit/>
          </a:bodyPr>
          <a:lstStyle/>
          <a:p>
            <a:r>
              <a:rPr lang="en-US" sz="2000" dirty="0"/>
              <a:t>Design Thinking Steps (Phase 1):</a:t>
            </a:r>
          </a:p>
          <a:p>
            <a:pPr lvl="1"/>
            <a:r>
              <a:rPr lang="en-US" sz="1800" dirty="0"/>
              <a:t>Empathize: Target users identified and how you understood their needs (e.g., surveys, interviews).</a:t>
            </a:r>
          </a:p>
          <a:p>
            <a:pPr lvl="1"/>
            <a:r>
              <a:rPr lang="en-US" sz="1800" dirty="0"/>
              <a:t>Define: Problem Statement formulated based on insights.</a:t>
            </a:r>
          </a:p>
          <a:p>
            <a:pPr lvl="1"/>
            <a:r>
              <a:rPr lang="en-US" sz="1800" dirty="0"/>
              <a:t>Ideate: Potential solutions explored (brainstorming, mind mapping).</a:t>
            </a:r>
          </a:p>
          <a:p>
            <a:r>
              <a:rPr lang="en-US" sz="2000" dirty="0"/>
              <a:t>Project Purpose &amp; Target Users: Clearly define the 'why' (purpose) and 'who' (users) of the project.</a:t>
            </a:r>
          </a:p>
          <a:p>
            <a:r>
              <a:rPr lang="en-US" sz="2000" dirty="0"/>
              <a:t>Proposed Methodology: Initial block diagrams or approach.</a:t>
            </a:r>
          </a:p>
          <a:p>
            <a:r>
              <a:rPr lang="en-US" sz="2000" dirty="0"/>
              <a:t>Project Goals &amp; Success Criteria: Specific, measurable objectives and how success is measured (e.g., accuracy, time).</a:t>
            </a:r>
          </a:p>
        </p:txBody>
      </p:sp>
    </p:spTree>
    <p:extLst>
      <p:ext uri="{BB962C8B-B14F-4D97-AF65-F5344CB8AC3E}">
        <p14:creationId xmlns:p14="http://schemas.microsoft.com/office/powerpoint/2010/main" val="2327347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BB90F-42BB-421F-99A7-B4FAA904E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Agenda </a:t>
            </a:r>
            <a:r>
              <a:rPr lang="en-US" sz="2200" dirty="0">
                <a:solidFill>
                  <a:srgbClr val="FF0000"/>
                </a:solidFill>
                <a:effectLst/>
              </a:rPr>
              <a:t>(Map each components with Design Thinking Steps)</a:t>
            </a:r>
            <a:endParaRPr lang="en-IN" dirty="0">
              <a:solidFill>
                <a:srgbClr val="FF0000"/>
              </a:solidFill>
              <a:effectLst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23C80-5A42-4381-8266-A883FCAFF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109" y="1592028"/>
            <a:ext cx="8380559" cy="3203255"/>
          </a:xfrm>
        </p:spPr>
        <p:txBody>
          <a:bodyPr>
            <a:noAutofit/>
          </a:bodyPr>
          <a:lstStyle/>
          <a:p>
            <a:r>
              <a:rPr lang="en-US" sz="2000" dirty="0"/>
              <a:t>Project Scope &amp; Resources Required: Boundaries of the project (what it will/will not do) and resources (hardware/software/tools).</a:t>
            </a:r>
          </a:p>
          <a:p>
            <a:r>
              <a:rPr lang="en-US" sz="2000" dirty="0"/>
              <a:t>Constraints, Assumptions &amp; Risks: Limitations (time/budget), assumptions, and potential risks.</a:t>
            </a:r>
          </a:p>
          <a:p>
            <a:r>
              <a:rPr lang="en-US" sz="2000" dirty="0"/>
              <a:t>Timeline (Gantt Chart): Project schedule to date.</a:t>
            </a:r>
          </a:p>
          <a:p>
            <a:r>
              <a:rPr lang="en-IN" sz="2000" dirty="0"/>
              <a:t>References (IEEE format preferred).</a:t>
            </a:r>
          </a:p>
        </p:txBody>
      </p:sp>
    </p:spTree>
    <p:extLst>
      <p:ext uri="{BB962C8B-B14F-4D97-AF65-F5344CB8AC3E}">
        <p14:creationId xmlns:p14="http://schemas.microsoft.com/office/powerpoint/2010/main" val="4093255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2710C-3B10-4FD1-9171-92CE376A7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Introduction &amp; Background of the Project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20FC3B2-20E8-54B8-3F48-EF671CC775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1800" y="1471791"/>
            <a:ext cx="7886700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/>
              <a:t>"Transforming a simple saliva sample into life-saving medical insights.“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Healthcare is shifting toward non-invasive diagnostics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Blood-based tests are: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Painful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Expensive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Time-consuming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Saliva contains rich biochemical information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Opportunity for real-time health monitoring 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 err="1">
                <a:latin typeface="Arial" panose="020B0604020202020204" pitchFamily="34" charset="0"/>
              </a:rPr>
              <a:t>i.e</a:t>
            </a:r>
            <a:r>
              <a:rPr lang="en-US" altLang="en-US" sz="1800" dirty="0">
                <a:latin typeface="Arial" panose="020B0604020202020204" pitchFamily="34" charset="0"/>
              </a:rPr>
              <a:t>,</a:t>
            </a:r>
            <a:r>
              <a:rPr lang="en-US" dirty="0"/>
              <a:t> </a:t>
            </a:r>
            <a:r>
              <a:rPr lang="en-US" sz="2000" dirty="0"/>
              <a:t>A Smart Saliva-Based Health Monitoring Device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6226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95D92-3E53-4441-83CB-9AECB855A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61303A0-95AE-29E7-3E1B-2F06DDFAB6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8300" y="1585222"/>
            <a:ext cx="8515350" cy="3132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 Issue: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Traditional diagnostic testing requires invasive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  blood samples, leading to low patient compliance, high costs, and clinical dependency.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 Impact: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Chronic conditions like diabetes and stress often go unmonitored due to the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  "needle phobia" and expense of frequent lab visits. </a:t>
            </a:r>
          </a:p>
          <a:p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Need: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 painless, affordable, and continuous preventive healthcare monitoring system. </a:t>
            </a:r>
          </a:p>
          <a:p>
            <a:r>
              <a:rPr lang="en-US" sz="1800" dirty="0"/>
              <a:t>Traditional diagnostic testing relies on invasive </a:t>
            </a:r>
            <a:r>
              <a:rPr lang="en-US" sz="1800" b="1" dirty="0"/>
              <a:t>blood sampling</a:t>
            </a:r>
            <a:r>
              <a:rPr lang="en-US" sz="1800" dirty="0"/>
              <a:t>, which is painful, requires clinical supervision, and incurs significant costs. This leads to </a:t>
            </a:r>
            <a:r>
              <a:rPr lang="en-US" sz="1800" b="1" dirty="0"/>
              <a:t>low compliance</a:t>
            </a:r>
            <a:r>
              <a:rPr lang="en-US" sz="1800" dirty="0"/>
              <a:t> in routine health tracking, especially for chronic conditions like diabetes and stress.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609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4DB07-765E-4063-964D-B9EE5BB7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99144"/>
            <a:ext cx="4749800" cy="323476"/>
          </a:xfrm>
        </p:spPr>
        <p:txBody>
          <a:bodyPr>
            <a:noAutofit/>
          </a:bodyPr>
          <a:lstStyle/>
          <a:p>
            <a:r>
              <a:rPr lang="en-US" sz="2400" dirty="0"/>
              <a:t>Objectives &amp; Scope of the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E2467-D0B6-403C-BA0D-E576B1E08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800" b="1" dirty="0"/>
              <a:t>Project Objectives</a:t>
            </a:r>
          </a:p>
          <a:p>
            <a:r>
              <a:rPr lang="en-IN" sz="1800" dirty="0"/>
              <a:t>Develop a </a:t>
            </a:r>
            <a:r>
              <a:rPr lang="en-IN" sz="1800" b="1" dirty="0"/>
              <a:t>portable biosensor</a:t>
            </a:r>
            <a:r>
              <a:rPr lang="en-IN" sz="1800" dirty="0"/>
              <a:t> for saliva analysis.</a:t>
            </a:r>
          </a:p>
          <a:p>
            <a:r>
              <a:rPr lang="en-IN" sz="1800" dirty="0"/>
              <a:t>Enable </a:t>
            </a:r>
            <a:r>
              <a:rPr lang="en-IN" sz="1800" b="1" dirty="0"/>
              <a:t>real-time monitoring</a:t>
            </a:r>
            <a:r>
              <a:rPr lang="en-IN" sz="1800" dirty="0"/>
              <a:t> of glucose and </a:t>
            </a:r>
            <a:r>
              <a:rPr lang="en-IN" sz="1800" dirty="0" err="1"/>
              <a:t>pH.</a:t>
            </a:r>
            <a:endParaRPr lang="en-IN" sz="1800" dirty="0"/>
          </a:p>
          <a:p>
            <a:r>
              <a:rPr lang="en-IN" sz="1800" dirty="0"/>
              <a:t>Integrate </a:t>
            </a:r>
            <a:r>
              <a:rPr lang="en-IN" sz="1800" b="1" dirty="0"/>
              <a:t>IoT capabilities</a:t>
            </a:r>
            <a:r>
              <a:rPr lang="en-IN" sz="1800" dirty="0"/>
              <a:t> for remote health tracking.</a:t>
            </a:r>
          </a:p>
          <a:p>
            <a:r>
              <a:rPr lang="en-IN" sz="1800" dirty="0"/>
              <a:t>Provide a </a:t>
            </a:r>
            <a:r>
              <a:rPr lang="en-IN" sz="1800" b="1" dirty="0"/>
              <a:t>cost-effective alternative</a:t>
            </a:r>
            <a:r>
              <a:rPr lang="en-IN" sz="1800" dirty="0"/>
              <a:t> to lab tests.</a:t>
            </a:r>
          </a:p>
          <a:p>
            <a:r>
              <a:rPr lang="en-IN" sz="1800" dirty="0"/>
              <a:t>Ensure a </a:t>
            </a:r>
            <a:r>
              <a:rPr lang="en-IN" sz="1800" b="1" dirty="0"/>
              <a:t>non-invasive user experience</a:t>
            </a:r>
            <a:r>
              <a:rPr lang="en-IN" sz="1800" dirty="0"/>
              <a:t>.</a:t>
            </a:r>
          </a:p>
          <a:p>
            <a:pPr marL="0" indent="0">
              <a:buNone/>
            </a:pPr>
            <a:r>
              <a:rPr lang="en-IN" sz="1800" b="1" dirty="0"/>
              <a:t>Scope: </a:t>
            </a:r>
          </a:p>
          <a:p>
            <a:r>
              <a:rPr lang="en-US" sz="1800" b="1" dirty="0"/>
              <a:t>Includes:</a:t>
            </a:r>
            <a:r>
              <a:rPr lang="en-US" sz="1800" dirty="0"/>
              <a:t> Real-time analysis of 4 key biomarkers and mobile dashboard integration.</a:t>
            </a:r>
            <a:endParaRPr lang="en-IN" sz="1800" dirty="0"/>
          </a:p>
          <a:p>
            <a:r>
              <a:rPr lang="en-US" sz="1800" b="1" dirty="0"/>
              <a:t>Excludes:</a:t>
            </a:r>
            <a:r>
              <a:rPr lang="en-US" sz="1800" dirty="0"/>
              <a:t> Advanced genetic sequencing or clinical-grade surgical diagnostics.</a:t>
            </a:r>
          </a:p>
          <a:p>
            <a:endParaRPr lang="en-IN" sz="1800" dirty="0"/>
          </a:p>
          <a:p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6255123-33FD-BEC0-70C7-151E232D3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00082"/>
            <a:ext cx="184731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569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ED41B-4CBC-4D6D-A57C-3B55F22B0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Literature Review/Survey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DE75388-1BA7-4F4E-A8CE-B126F89209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361422"/>
              </p:ext>
            </p:extLst>
          </p:nvPr>
        </p:nvGraphicFramePr>
        <p:xfrm>
          <a:off x="5333998" y="5185090"/>
          <a:ext cx="1869700" cy="28496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1460">
                  <a:extLst>
                    <a:ext uri="{9D8B030D-6E8A-4147-A177-3AD203B41FA5}">
                      <a16:colId xmlns:a16="http://schemas.microsoft.com/office/drawing/2014/main" val="94067575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79263904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28101917"/>
                    </a:ext>
                  </a:extLst>
                </a:gridCol>
                <a:gridCol w="161460">
                  <a:extLst>
                    <a:ext uri="{9D8B030D-6E8A-4147-A177-3AD203B41FA5}">
                      <a16:colId xmlns:a16="http://schemas.microsoft.com/office/drawing/2014/main" val="1831455120"/>
                    </a:ext>
                  </a:extLst>
                </a:gridCol>
                <a:gridCol w="161460">
                  <a:extLst>
                    <a:ext uri="{9D8B030D-6E8A-4147-A177-3AD203B41FA5}">
                      <a16:colId xmlns:a16="http://schemas.microsoft.com/office/drawing/2014/main" val="3557137703"/>
                    </a:ext>
                  </a:extLst>
                </a:gridCol>
                <a:gridCol w="161460">
                  <a:extLst>
                    <a:ext uri="{9D8B030D-6E8A-4147-A177-3AD203B41FA5}">
                      <a16:colId xmlns:a16="http://schemas.microsoft.com/office/drawing/2014/main" val="2893580136"/>
                    </a:ext>
                  </a:extLst>
                </a:gridCol>
                <a:gridCol w="161460">
                  <a:extLst>
                    <a:ext uri="{9D8B030D-6E8A-4147-A177-3AD203B41FA5}">
                      <a16:colId xmlns:a16="http://schemas.microsoft.com/office/drawing/2014/main" val="3447826596"/>
                    </a:ext>
                  </a:extLst>
                </a:gridCol>
                <a:gridCol w="161460">
                  <a:extLst>
                    <a:ext uri="{9D8B030D-6E8A-4147-A177-3AD203B41FA5}">
                      <a16:colId xmlns:a16="http://schemas.microsoft.com/office/drawing/2014/main" val="1175813190"/>
                    </a:ext>
                  </a:extLst>
                </a:gridCol>
                <a:gridCol w="161460">
                  <a:extLst>
                    <a:ext uri="{9D8B030D-6E8A-4147-A177-3AD203B41FA5}">
                      <a16:colId xmlns:a16="http://schemas.microsoft.com/office/drawing/2014/main" val="925559210"/>
                    </a:ext>
                  </a:extLst>
                </a:gridCol>
                <a:gridCol w="161460">
                  <a:extLst>
                    <a:ext uri="{9D8B030D-6E8A-4147-A177-3AD203B41FA5}">
                      <a16:colId xmlns:a16="http://schemas.microsoft.com/office/drawing/2014/main" val="4074067706"/>
                    </a:ext>
                  </a:extLst>
                </a:gridCol>
                <a:gridCol w="161460">
                  <a:extLst>
                    <a:ext uri="{9D8B030D-6E8A-4147-A177-3AD203B41FA5}">
                      <a16:colId xmlns:a16="http://schemas.microsoft.com/office/drawing/2014/main" val="193435061"/>
                    </a:ext>
                  </a:extLst>
                </a:gridCol>
              </a:tblGrid>
              <a:tr h="13863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1200" kern="1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1200" kern="1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1200" kern="1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1200" kern="1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1200" kern="1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1200" kern="1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1200" kern="1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1200" kern="1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1200" kern="1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1200" kern="1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1200" kern="1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extLst>
                  <a:ext uri="{0D108BD9-81ED-4DB2-BD59-A6C34878D82A}">
                    <a16:rowId xmlns:a16="http://schemas.microsoft.com/office/drawing/2014/main" val="3444325962"/>
                  </a:ext>
                </a:extLst>
              </a:tr>
              <a:tr h="38897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 kern="100" dirty="0">
                          <a:effectLst/>
                        </a:rPr>
                        <a:t>[1]</a:t>
                      </a:r>
                      <a:endParaRPr lang="en-IN" sz="1200" kern="1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extLst>
                  <a:ext uri="{0D108BD9-81ED-4DB2-BD59-A6C34878D82A}">
                    <a16:rowId xmlns:a16="http://schemas.microsoft.com/office/drawing/2014/main" val="2009830147"/>
                  </a:ext>
                </a:extLst>
              </a:tr>
              <a:tr h="38897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 kern="100">
                          <a:effectLst/>
                        </a:rPr>
                        <a:t>[2]</a:t>
                      </a:r>
                      <a:endParaRPr lang="en-IN" sz="1200" kern="1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extLst>
                  <a:ext uri="{0D108BD9-81ED-4DB2-BD59-A6C34878D82A}">
                    <a16:rowId xmlns:a16="http://schemas.microsoft.com/office/drawing/2014/main" val="3126270406"/>
                  </a:ext>
                </a:extLst>
              </a:tr>
              <a:tr h="38897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 kern="100">
                          <a:effectLst/>
                        </a:rPr>
                        <a:t>[3]</a:t>
                      </a:r>
                      <a:endParaRPr lang="en-IN" sz="1200" kern="1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extLst>
                  <a:ext uri="{0D108BD9-81ED-4DB2-BD59-A6C34878D82A}">
                    <a16:rowId xmlns:a16="http://schemas.microsoft.com/office/drawing/2014/main" val="26253555"/>
                  </a:ext>
                </a:extLst>
              </a:tr>
              <a:tr h="38897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 kern="100">
                          <a:effectLst/>
                        </a:rPr>
                        <a:t>[4]</a:t>
                      </a:r>
                      <a:endParaRPr lang="en-IN" sz="1200" kern="1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extLst>
                  <a:ext uri="{0D108BD9-81ED-4DB2-BD59-A6C34878D82A}">
                    <a16:rowId xmlns:a16="http://schemas.microsoft.com/office/drawing/2014/main" val="2643283654"/>
                  </a:ext>
                </a:extLst>
              </a:tr>
              <a:tr h="38897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 kern="100">
                          <a:effectLst/>
                        </a:rPr>
                        <a:t>[5]</a:t>
                      </a:r>
                      <a:endParaRPr lang="en-IN" sz="1200" kern="1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tc>
                  <a:txBody>
                    <a:bodyPr/>
                    <a:lstStyle/>
                    <a:p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030" marR="68030" marT="0" marB="0"/>
                </a:tc>
                <a:extLst>
                  <a:ext uri="{0D108BD9-81ED-4DB2-BD59-A6C34878D82A}">
                    <a16:rowId xmlns:a16="http://schemas.microsoft.com/office/drawing/2014/main" val="145622822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4A469B9-9EF0-DB6B-F780-23B22F79B5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120361"/>
              </p:ext>
            </p:extLst>
          </p:nvPr>
        </p:nvGraphicFramePr>
        <p:xfrm>
          <a:off x="355600" y="1454150"/>
          <a:ext cx="8388348" cy="3207066"/>
        </p:xfrm>
        <a:graphic>
          <a:graphicData uri="http://schemas.openxmlformats.org/drawingml/2006/table">
            <a:tbl>
              <a:tblPr/>
              <a:tblGrid>
                <a:gridCol w="1398058">
                  <a:extLst>
                    <a:ext uri="{9D8B030D-6E8A-4147-A177-3AD203B41FA5}">
                      <a16:colId xmlns:a16="http://schemas.microsoft.com/office/drawing/2014/main" val="1201042879"/>
                    </a:ext>
                  </a:extLst>
                </a:gridCol>
                <a:gridCol w="1398058">
                  <a:extLst>
                    <a:ext uri="{9D8B030D-6E8A-4147-A177-3AD203B41FA5}">
                      <a16:colId xmlns:a16="http://schemas.microsoft.com/office/drawing/2014/main" val="3106021263"/>
                    </a:ext>
                  </a:extLst>
                </a:gridCol>
                <a:gridCol w="1398058">
                  <a:extLst>
                    <a:ext uri="{9D8B030D-6E8A-4147-A177-3AD203B41FA5}">
                      <a16:colId xmlns:a16="http://schemas.microsoft.com/office/drawing/2014/main" val="1935232008"/>
                    </a:ext>
                  </a:extLst>
                </a:gridCol>
                <a:gridCol w="1398058">
                  <a:extLst>
                    <a:ext uri="{9D8B030D-6E8A-4147-A177-3AD203B41FA5}">
                      <a16:colId xmlns:a16="http://schemas.microsoft.com/office/drawing/2014/main" val="1089656494"/>
                    </a:ext>
                  </a:extLst>
                </a:gridCol>
                <a:gridCol w="1398058">
                  <a:extLst>
                    <a:ext uri="{9D8B030D-6E8A-4147-A177-3AD203B41FA5}">
                      <a16:colId xmlns:a16="http://schemas.microsoft.com/office/drawing/2014/main" val="1598199256"/>
                    </a:ext>
                  </a:extLst>
                </a:gridCol>
                <a:gridCol w="1398058">
                  <a:extLst>
                    <a:ext uri="{9D8B030D-6E8A-4147-A177-3AD203B41FA5}">
                      <a16:colId xmlns:a16="http://schemas.microsoft.com/office/drawing/2014/main" val="2954884548"/>
                    </a:ext>
                  </a:extLst>
                </a:gridCol>
              </a:tblGrid>
              <a:tr h="3065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Author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Findings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4245761"/>
                  </a:ext>
                </a:extLst>
              </a:tr>
              <a:tr h="518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Malon et al.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Saliva glucose sensing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Reliable correlation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Lower 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9102935"/>
                  </a:ext>
                </a:extLst>
              </a:tr>
              <a:tr h="518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Javaid et al.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Biosensors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Multi-marker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Expensive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1535203"/>
                  </a:ext>
                </a:extLst>
              </a:tr>
              <a:tr h="518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Zhang et al.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Microfluidics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Efficient sampling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Complex fabrication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0243061"/>
                  </a:ext>
                </a:extLst>
              </a:tr>
              <a:tr h="518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Lee et al.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IoT health monitoring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Real-time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Power issues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206922"/>
                  </a:ext>
                </a:extLst>
              </a:tr>
              <a:tr h="518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Kim et al.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Flexible sensors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Wearable tech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Calibration issues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8584531"/>
                  </a:ext>
                </a:extLst>
              </a:tr>
              <a:tr h="30655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8841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349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FF643-EC39-47CE-B593-E49ED7401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Identified Research Gaps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CD1CEDE-A6A4-9B4C-FB47-C84D8BC5AC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6700" y="1390561"/>
            <a:ext cx="8401050" cy="3713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Lack of Standardization: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Current sensors lack universal protocols for saliva collection, leading to data drift.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Environmental Noise: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Most existing tools fail to filter out dietary artifacts (recent food/drink intake).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Missing Multi-Biomarker Fusion: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Most studies focus on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only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glucose or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only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pH; very few integrate them into one IoT unit.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Cost Barrier: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Research prototypes remain too expensive for mass adoption in developing regions. </a:t>
            </a:r>
          </a:p>
          <a:p>
            <a:pPr marL="0" indent="0">
              <a:buNone/>
            </a:pPr>
            <a:r>
              <a:rPr lang="en-US" sz="1800" b="1" dirty="0"/>
              <a:t>The </a:t>
            </a:r>
            <a:r>
              <a:rPr lang="en-US" sz="1800" b="1" dirty="0" err="1"/>
              <a:t>SalivaSense</a:t>
            </a:r>
            <a:r>
              <a:rPr lang="en-US" sz="1800" b="1" dirty="0"/>
              <a:t> Solution</a:t>
            </a:r>
          </a:p>
          <a:p>
            <a:r>
              <a:rPr lang="en-US" sz="1800" dirty="0" err="1"/>
              <a:t>SalivaSense</a:t>
            </a:r>
            <a:r>
              <a:rPr lang="en-US" sz="1800" dirty="0"/>
              <a:t> addresses these by using a </a:t>
            </a:r>
            <a:r>
              <a:rPr lang="en-US" sz="1800" b="1" dirty="0"/>
              <a:t>normalized calibration algorithm</a:t>
            </a:r>
            <a:r>
              <a:rPr lang="en-US" sz="1800" dirty="0"/>
              <a:t> that factors in hydration status to deliver accurate data across different users at a </a:t>
            </a:r>
            <a:r>
              <a:rPr lang="en-US" sz="1800" b="1" dirty="0"/>
              <a:t>fraction of the cost</a:t>
            </a:r>
            <a:r>
              <a:rPr lang="en-US" sz="1800" dirty="0"/>
              <a:t> of commercial lab equipment.</a:t>
            </a:r>
            <a:br>
              <a:rPr lang="en-US" sz="1800" dirty="0"/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33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35862-20C1-4D0C-B800-07E59849D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Proposed Methodology/Block Diagram/Architecture</a:t>
            </a:r>
            <a:endParaRPr lang="en-IN" sz="2400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EE083BD4-E4BB-70BF-3D77-A777983D33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6700" y="1420939"/>
            <a:ext cx="77724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Saliva application on functionalized chemical strips.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Transduction: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Enzymes (Glucose Oxidase) convert chemical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concentration into electrical signals.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ESP32 Microcontroller handles Analog-to-Digital Conversion (ADC).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Transmission: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sent via Bluetooth/Wi-Fi to a Cloud database (Firebase).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b="1" dirty="0"/>
              <a:t>Data Analytics:</a:t>
            </a:r>
            <a:r>
              <a:rPr lang="en-US" sz="1800" dirty="0"/>
              <a:t> Post-processing using specific health thresholds.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Visualization on a custom Flutter mobile app.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b="1" dirty="0"/>
              <a:t>User Feedback:</a:t>
            </a:r>
            <a:r>
              <a:rPr lang="en-US" sz="1800" dirty="0"/>
              <a:t> Immediate visual alerts on the Mobile Dashboard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109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25884-E553-4987-9B65-0A88F843B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Proposed Hardware/Software Requirements</a:t>
            </a:r>
            <a:endParaRPr lang="en-IN" sz="28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4E822F7-9B1E-7D05-F3B1-49F4A32FFF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592219"/>
            <a:ext cx="7213600" cy="3093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Hardware: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ESP32/Arduino Microcontroller.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pH Probe &amp; Glucose Biosensor Strips.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OLED 0.96" Display.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Li-Po Rechargeable Battery.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Software: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Arduino IDE (Embedded C++).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Flutter/React Native (Mobile Development).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Firebase/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ThingSpeak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(Data Logging).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8132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B290C-6416-4F11-888C-C1D66F472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Design Thinking Steps (Phase 1):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3DF7AB7-184E-0952-1D75-D0ED6E759D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705199"/>
            <a:ext cx="7710678" cy="2539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Empathize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Conducted surveys with 50 respondents (diabetics and athletes).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Key insight: 88% avoided testing due to needle pain and clinic wait times.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Define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Refined the goal to create a "zero-pain" diagnostic unit that provides a full health summary in under 60 seconds.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Target Users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Diabetic patients, fitness enthusiasts, and elderly patients in remote areas.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112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75DC0-113D-4AED-8AC4-CCC927B5D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Proposed Methodology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791C0-490F-4B74-8014-F12241208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11764"/>
            <a:ext cx="3461766" cy="3199276"/>
          </a:xfrm>
        </p:spPr>
        <p:txBody>
          <a:bodyPr>
            <a:noAutofit/>
          </a:bodyPr>
          <a:lstStyle/>
          <a:p>
            <a:r>
              <a:rPr lang="en-IN" sz="1800" dirty="0"/>
              <a:t>[Saliva Sample]</a:t>
            </a:r>
          </a:p>
          <a:p>
            <a:pPr marL="0" indent="0">
              <a:buNone/>
            </a:pPr>
            <a:r>
              <a:rPr lang="en-IN" sz="1800" dirty="0"/>
              <a:t>             ↓</a:t>
            </a:r>
          </a:p>
          <a:p>
            <a:r>
              <a:rPr lang="en-IN" sz="1800" dirty="0"/>
              <a:t>[Biosensor Strip]</a:t>
            </a:r>
          </a:p>
          <a:p>
            <a:pPr marL="0" indent="0">
              <a:buNone/>
            </a:pPr>
            <a:r>
              <a:rPr lang="en-IN" sz="1800" dirty="0"/>
              <a:t>             ↓</a:t>
            </a:r>
          </a:p>
          <a:p>
            <a:r>
              <a:rPr lang="en-IN" sz="1800" dirty="0"/>
              <a:t>[Signal Conditioning Circuit]</a:t>
            </a:r>
          </a:p>
          <a:p>
            <a:pPr marL="0" indent="0">
              <a:buNone/>
            </a:pPr>
            <a:r>
              <a:rPr lang="en-IN" sz="1800" dirty="0"/>
              <a:t>             ↓</a:t>
            </a:r>
          </a:p>
          <a:p>
            <a:r>
              <a:rPr lang="en-IN" sz="1800" dirty="0"/>
              <a:t>[Arduino / ESP32]</a:t>
            </a:r>
          </a:p>
          <a:p>
            <a:pPr marL="0" indent="0">
              <a:buNone/>
            </a:pPr>
            <a:r>
              <a:rPr lang="en-IN" sz="1800" dirty="0"/>
              <a:t>             ↓</a:t>
            </a:r>
          </a:p>
          <a:p>
            <a:r>
              <a:rPr lang="en-IN" sz="1800" dirty="0"/>
              <a:t>[Bluetooth Module]</a:t>
            </a:r>
          </a:p>
          <a:p>
            <a:pPr marL="0" indent="0">
              <a:buNone/>
            </a:pPr>
            <a:r>
              <a:rPr lang="en-IN" sz="1800" dirty="0"/>
              <a:t>             ↓</a:t>
            </a:r>
          </a:p>
          <a:p>
            <a:r>
              <a:rPr lang="en-IN" sz="1800" dirty="0"/>
              <a:t>[Mobile App / LCD Display]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5150A1-F2CB-9E6F-5C3D-9F90387B8972}"/>
              </a:ext>
            </a:extLst>
          </p:cNvPr>
          <p:cNvSpPr txBox="1"/>
          <p:nvPr/>
        </p:nvSpPr>
        <p:spPr>
          <a:xfrm>
            <a:off x="4133088" y="1818013"/>
            <a:ext cx="466344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Saliva sample collected on biosensor strip 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Sensors detect glucose, pH, cortisol, electrolytes</a:t>
            </a:r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Signals processed using Arduino/ESP32 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 transmitted via Bluetooth</a:t>
            </a:r>
          </a:p>
          <a:p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Results displayed on mobile app/LCD with </a:t>
            </a:r>
            <a:r>
              <a:rPr lang="en-IN" dirty="0" err="1"/>
              <a:t>color</a:t>
            </a:r>
            <a:r>
              <a:rPr lang="en-IN" dirty="0"/>
              <a:t> indicators</a:t>
            </a:r>
          </a:p>
        </p:txBody>
      </p:sp>
    </p:spTree>
    <p:extLst>
      <p:ext uri="{BB962C8B-B14F-4D97-AF65-F5344CB8AC3E}">
        <p14:creationId xmlns:p14="http://schemas.microsoft.com/office/powerpoint/2010/main" val="331029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B9225-AACB-449B-B122-8537CB368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Project Goals &amp; Success Criteria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4177EE-1DA7-54F4-BEF4-D9951149FF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9392" y="1561741"/>
            <a:ext cx="7613904" cy="2816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Specific Goal: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Achieve ±5% accuracy compared to standard commercial blood-glucose meters.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Success Criteria: 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The device should reliably measure key biomarkers (glucose, pH, hydration, cortisol) with results comparable to standard testing methods.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Latency: Data must sync to mobile app in &lt; 3 seconds.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Durability: Sensor strips must remain stable for 30 days.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User Feedback: Achieved &gt; 90% positive usability score in pilot testing.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279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AEF2B-BF1F-470D-8AA0-054C76E72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Constraints, Assumptions &amp; Risks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652D469-CA50-C7F4-46DC-12BBC4F7F6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9476" y="2022221"/>
            <a:ext cx="7886700" cy="2262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Constraints: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Limited budget for high-grade medical enzymes; power consumption of Wi-Fi module.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Assumptions: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Salivary glucose remains a reliable proxy for blood glucose during the testing period.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Risks: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Sensor contamination from food particles; Bluetooth pairing instability in interference-heavy environments.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5128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DBB6D-9023-451A-9C2D-ACB237243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Timeline (Gantt Chart)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60B0DAC-743B-559A-11D7-641606021D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3086934"/>
              </p:ext>
            </p:extLst>
          </p:nvPr>
        </p:nvGraphicFramePr>
        <p:xfrm>
          <a:off x="566928" y="1469136"/>
          <a:ext cx="7886700" cy="3371086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524422492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3478487984"/>
                    </a:ext>
                  </a:extLst>
                </a:gridCol>
              </a:tblGrid>
              <a:tr h="741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Week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Task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4952173"/>
                  </a:ext>
                </a:extLst>
              </a:tr>
              <a:tr h="4382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Literature Review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846068"/>
                  </a:ext>
                </a:extLst>
              </a:tr>
              <a:tr h="4382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4457453"/>
                  </a:ext>
                </a:extLst>
              </a:tr>
              <a:tr h="4382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Hardware Setup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65079"/>
                  </a:ext>
                </a:extLst>
              </a:tr>
              <a:tr h="4382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967190"/>
                  </a:ext>
                </a:extLst>
              </a:tr>
              <a:tr h="4382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113350"/>
                  </a:ext>
                </a:extLst>
              </a:tr>
              <a:tr h="4382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Final Presentation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237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79865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482A2-74D6-489D-BF09-2FB4549F3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3600" dirty="0"/>
              <a:t>References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0FD44B4-23AE-9A51-DA76-D5D118EE89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4261" y="1471997"/>
            <a:ext cx="8015478" cy="4478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[1]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Yao et al.,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"Electrochemical sensors for saliva," IEEE Sensors Journal, 2023.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[2]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Gersone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"Lab-on-a-chip for multi-marker detection," 2024. </a:t>
            </a: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[3]</a:t>
            </a:r>
            <a:r>
              <a:rPr lang="en-US" altLang="en-US" sz="1800" dirty="0">
                <a:latin typeface="Arial" panose="020B0604020202020204" pitchFamily="34" charset="0"/>
              </a:rPr>
              <a:t> Zheng, X. et al.,</a:t>
            </a: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 “Smart biosensors and intelligent devices for salivary biomarker detection,” </a:t>
            </a:r>
            <a:r>
              <a:rPr lang="en-US" altLang="en-US" sz="1800" i="1" dirty="0">
                <a:latin typeface="Arial" panose="020B0604020202020204" pitchFamily="34" charset="0"/>
              </a:rPr>
              <a:t>Biosensors and Bioelectronics</a:t>
            </a:r>
            <a:r>
              <a:rPr lang="en-US" altLang="en-US" sz="1800" dirty="0">
                <a:latin typeface="Arial" panose="020B0604020202020204" pitchFamily="34" charset="0"/>
              </a:rPr>
              <a:t>, 2021. </a:t>
            </a: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[4] </a:t>
            </a:r>
            <a:r>
              <a:rPr lang="en-US" altLang="en-US" sz="1800" dirty="0">
                <a:latin typeface="Arial" panose="020B0604020202020204" pitchFamily="34" charset="0"/>
              </a:rPr>
              <a:t>Malon, R.S.P. et al.,</a:t>
            </a: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 “Saliva-Based Biosensors: Noninvasive Monitoring Tool for Clinical Diagnostics,” </a:t>
            </a:r>
            <a:r>
              <a:rPr lang="en-US" altLang="en-US" sz="1800" i="1" dirty="0">
                <a:latin typeface="Arial" panose="020B0604020202020204" pitchFamily="34" charset="0"/>
              </a:rPr>
              <a:t>BioMed Research International</a:t>
            </a:r>
            <a:r>
              <a:rPr lang="en-US" altLang="en-US" sz="1800" dirty="0">
                <a:latin typeface="Arial" panose="020B0604020202020204" pitchFamily="34" charset="0"/>
              </a:rPr>
              <a:t>, 2014. </a:t>
            </a: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2451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 Big Thank You Images – Browse 22,980 Stock Photos, Vectors, and Video |  Adobe Stock">
            <a:extLst>
              <a:ext uri="{FF2B5EF4-FFF2-40B4-BE49-F238E27FC236}">
                <a16:creationId xmlns:a16="http://schemas.microsoft.com/office/drawing/2014/main" id="{4C0BCFDE-AE3A-4A94-8086-817FD93170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713" y="857250"/>
            <a:ext cx="612457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6451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807</TotalTime>
  <Words>1299</Words>
  <Application>Microsoft Office PowerPoint</Application>
  <PresentationFormat>On-screen Show (16:9)</PresentationFormat>
  <Paragraphs>202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Bookman Old Style</vt:lpstr>
      <vt:lpstr>Calibri</vt:lpstr>
      <vt:lpstr>Cambria</vt:lpstr>
      <vt:lpstr>Fira Sans Condensed</vt:lpstr>
      <vt:lpstr>Garamond</vt:lpstr>
      <vt:lpstr>Google Sans Text</vt:lpstr>
      <vt:lpstr>Microsoft Sans Serif</vt:lpstr>
      <vt:lpstr>Office Theme</vt:lpstr>
      <vt:lpstr>Interdisciplinary Project Work </vt:lpstr>
      <vt:lpstr> SalivaSense – A Smart Saliva-Based Health Monitoring Device</vt:lpstr>
      <vt:lpstr>Agenda (Map each components with Design Thinking Steps)</vt:lpstr>
      <vt:lpstr>Agenda (Map each components with Design Thinking Steps)</vt:lpstr>
      <vt:lpstr>Agenda (Map each components with Design Thinking Steps)</vt:lpstr>
      <vt:lpstr>Introduction &amp; Background of the Project</vt:lpstr>
      <vt:lpstr>Problem Statement</vt:lpstr>
      <vt:lpstr>Objectives &amp; Scope of the Work</vt:lpstr>
      <vt:lpstr>Literature Review/Survey </vt:lpstr>
      <vt:lpstr>Identified Research Gaps</vt:lpstr>
      <vt:lpstr>Proposed Methodology/Block Diagram/Architecture</vt:lpstr>
      <vt:lpstr>Proposed Hardware/Software Requirements</vt:lpstr>
      <vt:lpstr>Design Thinking Steps (Phase 1):</vt:lpstr>
      <vt:lpstr>Proposed Methodology</vt:lpstr>
      <vt:lpstr>Project Goals &amp; Success Criteria</vt:lpstr>
      <vt:lpstr>Constraints, Assumptions &amp; Risks</vt:lpstr>
      <vt:lpstr>Timeline (Gantt Chart)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Ganesh Heralagi</cp:lastModifiedBy>
  <cp:revision>43</cp:revision>
  <dcterms:modified xsi:type="dcterms:W3CDTF">2026-04-28T17:34:44Z</dcterms:modified>
</cp:coreProperties>
</file>